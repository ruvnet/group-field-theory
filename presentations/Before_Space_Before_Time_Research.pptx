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3a699f6934e2f" /><Relationship Type="http://schemas.openxmlformats.org/officeDocument/2006/relationships/extended-properties" Target="/docProps/app.xml" Id="R9223334f1def4a3d" /><Relationship Type="http://schemas.openxmlformats.org/officeDocument/2006/relationships/officeDocument" Target="/ppt/presentation.xml" Id="R05d3b79ca96f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1fa6157a94e1b"/>
  </p:sldMasterIdLst>
  <p:notesMasterIdLst>
    <p:notesMasterId xmlns:r="http://schemas.openxmlformats.org/officeDocument/2006/relationships" r:id="R87a849235a704c36"/>
  </p:notesMasterIdLst>
  <p:sldIdLst>
    <p:sldId xmlns:r="http://schemas.openxmlformats.org/officeDocument/2006/relationships" id="256" r:id="R6be30d748fbb414e"/>
    <p:sldId xmlns:r="http://schemas.openxmlformats.org/officeDocument/2006/relationships" id="257" r:id="Rb73477faedf944e0"/>
    <p:sldId xmlns:r="http://schemas.openxmlformats.org/officeDocument/2006/relationships" id="258" r:id="R6d5c2de405c74248"/>
    <p:sldId xmlns:r="http://schemas.openxmlformats.org/officeDocument/2006/relationships" id="259" r:id="Ref6b24911e794daf"/>
    <p:sldId xmlns:r="http://schemas.openxmlformats.org/officeDocument/2006/relationships" id="260" r:id="R94256ad9260e4785"/>
    <p:sldId xmlns:r="http://schemas.openxmlformats.org/officeDocument/2006/relationships" id="261" r:id="Ra24bd4efed3043e6"/>
    <p:sldId xmlns:r="http://schemas.openxmlformats.org/officeDocument/2006/relationships" id="262" r:id="R6286a564c38e4186"/>
    <p:sldId xmlns:r="http://schemas.openxmlformats.org/officeDocument/2006/relationships" id="263" r:id="R48b03948e58c4bcf"/>
    <p:sldId xmlns:r="http://schemas.openxmlformats.org/officeDocument/2006/relationships" id="264" r:id="Rc42adedf962946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1dc1b70bd443b8" /><Relationship Type="http://schemas.openxmlformats.org/officeDocument/2006/relationships/slideMaster" Target="/ppt/slideMasters/slideMaster1.xml" Id="R8cd1fa6157a94e1b" /><Relationship Type="http://schemas.openxmlformats.org/officeDocument/2006/relationships/notesMaster" Target="/ppt/notesMasters/notesMaster1.xml" Id="R87a849235a704c36" /><Relationship Type="http://schemas.openxmlformats.org/officeDocument/2006/relationships/presProps" Target="/ppt/presProps.xml" Id="R181015f4f5434426" /><Relationship Type="http://schemas.openxmlformats.org/officeDocument/2006/relationships/tableStyles" Target="/ppt/tableStyles.xml" Id="R0f2a10691274481f" /><Relationship Type="http://schemas.openxmlformats.org/officeDocument/2006/relationships/slide" Target="/ppt/slides/slide1.xml" Id="R6be30d748fbb414e" /><Relationship Type="http://schemas.openxmlformats.org/officeDocument/2006/relationships/slide" Target="/ppt/slides/slide2.xml" Id="Rb73477faedf944e0" /><Relationship Type="http://schemas.openxmlformats.org/officeDocument/2006/relationships/slide" Target="/ppt/slides/slide3.xml" Id="R6d5c2de405c74248" /><Relationship Type="http://schemas.openxmlformats.org/officeDocument/2006/relationships/slide" Target="/ppt/slides/slide4.xml" Id="Ref6b24911e794daf" /><Relationship Type="http://schemas.openxmlformats.org/officeDocument/2006/relationships/slide" Target="/ppt/slides/slide5.xml" Id="R94256ad9260e4785" /><Relationship Type="http://schemas.openxmlformats.org/officeDocument/2006/relationships/slide" Target="/ppt/slides/slide6.xml" Id="Ra24bd4efed3043e6" /><Relationship Type="http://schemas.openxmlformats.org/officeDocument/2006/relationships/slide" Target="/ppt/slides/slide7.xml" Id="R6286a564c38e4186" /><Relationship Type="http://schemas.openxmlformats.org/officeDocument/2006/relationships/slide" Target="/ppt/slides/slide8.xml" Id="R48b03948e58c4bcf" /><Relationship Type="http://schemas.openxmlformats.org/officeDocument/2006/relationships/slide" Target="/ppt/slides/slide9.xml" Id="Rc42adedf9629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811ee06153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95a6e7de5427b" /><Relationship Type="http://schemas.openxmlformats.org/officeDocument/2006/relationships/notesMaster" Target="/ppt/notesMasters/notesMaster1.xml" Id="Rc394e5d834bb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d4e9c8c0724817" /><Relationship Type="http://schemas.openxmlformats.org/officeDocument/2006/relationships/notesMaster" Target="/ppt/notesMasters/notesMaster1.xml" Id="R885915123f14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f049734ca4949" /><Relationship Type="http://schemas.openxmlformats.org/officeDocument/2006/relationships/notesMaster" Target="/ppt/notesMasters/notesMaster1.xml" Id="Rb073c9548a2e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7687a22a4b4435" /><Relationship Type="http://schemas.openxmlformats.org/officeDocument/2006/relationships/notesMaster" Target="/ppt/notesMasters/notesMaster1.xml" Id="R5eed76366a6a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59d0a0d8f4ce5" /><Relationship Type="http://schemas.openxmlformats.org/officeDocument/2006/relationships/notesMaster" Target="/ppt/notesMasters/notesMaster1.xml" Id="R03f74f8d4fe645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c736581d194772" /><Relationship Type="http://schemas.openxmlformats.org/officeDocument/2006/relationships/notesMaster" Target="/ppt/notesMasters/notesMaster1.xml" Id="R53ed717b136a4a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ba584617cd4d7c" /><Relationship Type="http://schemas.openxmlformats.org/officeDocument/2006/relationships/notesMaster" Target="/ppt/notesMasters/notesMaster1.xml" Id="R5f6b27deca8843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c98eec015a4618" /><Relationship Type="http://schemas.openxmlformats.org/officeDocument/2006/relationships/notesMaster" Target="/ppt/notesMasters/notesMaster1.xml" Id="Ra86c1bf113fd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9061dfbdb042b4" /><Relationship Type="http://schemas.openxmlformats.org/officeDocument/2006/relationships/notesMaster" Target="/ppt/notesMasters/notesMaster1.xml" Id="R0f14940f2da340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Interactive experience: https://before-space-before-time.ruv.chatgpt.site</a:t>
            </a:r>
          </a:p>
          <a:p xmlns:a="http://schemas.openxmlformats.org/drawingml/2006/main">
            <a:r>
              <a:t>• Project social preview image,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Oriti, D. Disappearance and emergence of space and time in quantum gravity. arXiv:1302.2849.</a:t>
            </a:r>
          </a:p>
          <a:p xmlns:a="http://schemas.openxmlformats.org/drawingml/2006/main">
            <a:r>
              <a:t>• Interactive experience: https://before-space-before-time.ruv.chatgpt.site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Project computational invariant and experiment protocol. See docs/03_computational_model.md.</a:t>
            </a:r>
          </a:p>
          <a:p xmlns:a="http://schemas.openxmlformats.org/drawingml/2006/main">
            <a:r>
              <a:t>• No external claim. Diagram illustrates coordinate independent graph observables.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Marchetti, Oriti, Pithis, and Thürigen. Mean field phase transitions in tensorial group field theory quantum gravity. Physical Review Letters 130, 141501. 2023.</a:t>
            </a:r>
          </a:p>
          <a:p xmlns:a="http://schemas.openxmlformats.org/drawingml/2006/main">
            <a:r>
              <a:t>• Oriti, D. TGFT condensate cosmology as an example of spacetime emergence in quantum gravity. arXiv:2112.02585.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Spectral dimension definition and graph metrics summarized in docs/03_computational_model.md.</a:t>
            </a:r>
          </a:p>
          <a:p xmlns:a="http://schemas.openxmlformats.org/drawingml/2006/main">
            <a:r>
              <a:t>• Oriti, D. The complex timeless emergence of time in quantum gravity. arXiv:2110.08641.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Gielen, Oriti, and Sindoni. Cosmology from Group Field Theory Formalism for Quantum Gravity. Physical Review Letters 111, 031301. 2013.</a:t>
            </a:r>
          </a:p>
          <a:p xmlns:a="http://schemas.openxmlformats.org/drawingml/2006/main">
            <a:r>
              <a:t>• Mozota Frauca, Á. Foundational issues in Group Field Theory. Foundations of Physics. 2024.</a:t>
            </a:r>
          </a:p>
          <a:p xmlns:a="http://schemas.openxmlformats.org/drawingml/2006/main">
            <a:r>
              <a:t>• Stanford Encyclopedia of Philosophy. Quantum Gravity.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RuVector repository: https://github.com/ruvnet/ruvector</a:t>
            </a:r>
          </a:p>
          <a:p xmlns:a="http://schemas.openxmlformats.org/drawingml/2006/main">
            <a:r>
              <a:t>• MidStream repository: https://github.com/ruvnet/midstream</a:t>
            </a:r>
          </a:p>
          <a:p xmlns:a="http://schemas.openxmlformats.org/drawingml/2006/main">
            <a:r>
              <a:t>• MetaHarness repository: https://github.com/ruvnet/metaharness</a:t>
            </a:r>
          </a:p>
          <a:p xmlns:a="http://schemas.openxmlformats.org/drawingml/2006/main">
            <a:r>
              <a:t>• Project architecture described in docs/03_computational_model.md.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Mozota Frauca, Á. Foundational issues in Group Field Theory. Foundations of Physics. 2024.</a:t>
            </a:r>
          </a:p>
          <a:p xmlns:a="http://schemas.openxmlformats.org/drawingml/2006/main">
            <a:r>
              <a:t>• Huggett and Wüthrich. Emergent spacetime and empirical coherence. arXiv:1206.6290.</a:t>
            </a:r>
          </a:p>
          <a:p xmlns:a="http://schemas.openxmlformats.org/drawingml/2006/main">
            <a:r>
              <a:t>• Project falsifiability criteria in docs/05_limitations_and_falsifiability.md.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• Interactive experience: https://before-space-before-time.ruv.chatgpt.site</a:t>
            </a:r>
          </a:p>
          <a:p xmlns:a="http://schemas.openxmlformats.org/drawingml/2006/main">
            <a:r>
              <a:t>• Conclusion scoped to the constructive computational claim documented in this research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cd1a4959b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f79257ae44a3f" /><Relationship Type="http://schemas.openxmlformats.org/officeDocument/2006/relationships/slideLayout" Target="/ppt/slideLayouts/slideLayout1.xml" Id="R933ade0911a943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ade0911a943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62c09048c41fc" /><Relationship Type="http://schemas.openxmlformats.org/officeDocument/2006/relationships/image" Target="/ppt/media/image.png" Id="R71e7a11151794f1d" /><Relationship Type="http://schemas.openxmlformats.org/officeDocument/2006/relationships/notesSlide" Target="/ppt/notesSlides/notesSlide1.xml" Id="R953b0637ad27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e85e2debf497e" /><Relationship Type="http://schemas.openxmlformats.org/officeDocument/2006/relationships/image" Target="/ppt/media/image.jpeg" Id="Re54b02baeee64ed9" /><Relationship Type="http://schemas.openxmlformats.org/officeDocument/2006/relationships/notesSlide" Target="/ppt/notesSlides/notesSlide2.xml" Id="R9af03deeebf34b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bf3754134e91" /><Relationship Type="http://schemas.openxmlformats.org/officeDocument/2006/relationships/notesSlide" Target="/ppt/notesSlides/notesSlide3.xml" Id="R7cf0bf782f334a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d8409174345ec" /><Relationship Type="http://schemas.openxmlformats.org/officeDocument/2006/relationships/notesSlide" Target="/ppt/notesSlides/notesSlide4.xml" Id="R506f0b2a0af647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013de19154e2f" /><Relationship Type="http://schemas.openxmlformats.org/officeDocument/2006/relationships/notesSlide" Target="/ppt/notesSlides/notesSlide5.xml" Id="Reb1fdf50d01e41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ec5d5a0e04fbc" /><Relationship Type="http://schemas.openxmlformats.org/officeDocument/2006/relationships/notesSlide" Target="/ppt/notesSlides/notesSlide6.xml" Id="R4f94b01b363040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bf3ffbcc3427e" /><Relationship Type="http://schemas.openxmlformats.org/officeDocument/2006/relationships/notesSlide" Target="/ppt/notesSlides/notesSlide7.xml" Id="R2d88908cf4c142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128557e9342c1" /><Relationship Type="http://schemas.openxmlformats.org/officeDocument/2006/relationships/notesSlide" Target="/ppt/notesSlides/notesSlide8.xml" Id="R700b19e6d7e549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e52656cb74813" /><Relationship Type="http://schemas.openxmlformats.org/officeDocument/2006/relationships/notesSlide" Target="/ppt/notesSlides/notesSlide9.xml" Id="Rd6ae65c93bc3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7a11151794f1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66222-CB9C-4B34-98A5-C815CAE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E225D-AACA-4FEE-8CF1-B6816158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6FFD7"/>
                </a:solidFill>
              </a:defRPr>
            </a:pPr>
            <a:r>
              <a:rPr sz="825" b="1" i="0">
                <a:solidFill>
                  <a:srgbClr val="86FFD7"/>
                </a:solidFill>
              </a:rPr>
              <a:t>RESEARCH BRIEFING  · 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27A9F-B7E2-4525-9638-09533B9F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62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F2F4EE"/>
                </a:solidFill>
              </a:defRPr>
            </a:pPr>
            <a:r>
              <a:rPr sz="900" b="0" i="0">
                <a:solidFill>
                  <a:srgbClr val="F2F4EE"/>
                </a:solidFill>
              </a:rPr>
              <a:t>before-space-before-time.ruv.chatgpt.site</a:t>
            </a:r>
          </a:p>
        </p:txBody>
      </p:sp>
    </p:spTree>
    <p:extLst>
      <p:ext uri="{BB962C8B-B14F-4D97-AF65-F5344CB8AC3E}">
        <p14:creationId xmlns:p14="http://schemas.microsoft.com/office/powerpoint/2010/main" val="775624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888F5-8C7E-4BF7-8AD5-06ADA80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16748-CA9A-4AAB-B25E-7762A30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THE INVERSION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C999F-C108-4B98-ADB0-99FC8161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What if space and time are outputs?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2E263-F735-4422-8923-AA8C8609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2F4EE"/>
                </a:solidFill>
              </a:defRPr>
            </a:pPr>
            <a:r>
              <a:rPr sz="1725" b="0" i="0">
                <a:solidFill>
                  <a:srgbClr val="F2F4EE"/>
                </a:solidFill>
              </a:rPr>
              <a:t>Group Field Theory proposes quantum building blocks that do not sit inside a preexisting universe. Under suitable collective conditions, their relations can admit a geometric description.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C9BB9-A2FC-4B0B-8187-E6DEFC54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CE8C"/>
                </a:solidFill>
              </a:defRPr>
            </a:pPr>
            <a:r>
              <a:rPr sz="900" b="1" i="0">
                <a:solidFill>
                  <a:srgbClr val="FFCE8C"/>
                </a:solidFill>
              </a:rPr>
              <a:t>Simple analogy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FAC05-E7A1-4BB6-9FAF-F514588F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FFCE8C"/>
                </a:solidFill>
              </a:defRPr>
            </a:pPr>
            <a:r>
              <a:rPr sz="1950" b="0" i="1">
                <a:solidFill>
                  <a:srgbClr val="FFCE8C"/>
                </a:solidFill>
              </a:rPr>
              <a:t>A stadium wave belongs to the crowd. No single person contains it.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b02baeee64ed9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1762125"/>
            <a:ext cx="6048375" cy="3781425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F8DF-0B1B-4C6A-8711-A3D67FE9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1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6FFD7"/>
                </a:solidFill>
              </a:defRPr>
            </a:pPr>
            <a:r>
              <a:rPr sz="750" b="1" i="0">
                <a:solidFill>
                  <a:srgbClr val="86FFD7"/>
                </a:solidFill>
              </a:rPr>
              <a:t>Interactive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02490-A61B-4EA0-9B43-D5D7151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185A1-7D3B-4577-89D2-012083C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7FC8-1321-4241-BCFA-0FDDDCF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5290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1BE5E-D325-4084-8FD3-14CE3C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2713-2530-4DA5-AC73-660B6FB6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THE CONSTRUCTIVE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28806-731D-45E3-91FC-4DE06054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Primitive state contains relation, not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80E5E-40B4-4124-A9C3-BA70AF61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1812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C5939-4B2C-461B-8059-832AF86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478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CE8C"/>
                </a:solidFill>
              </a:defRPr>
            </a:pPr>
            <a:r>
              <a:rPr sz="750" b="1" i="0">
                <a:solidFill>
                  <a:srgbClr val="FFCE8C"/>
                </a:solidFill>
              </a:rPr>
              <a:t>RANDOMIZE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23EE7-2101-4D27-82FC-6A94E45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75903">
            <a:off x="1050892" y="3174206"/>
            <a:ext cx="1251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F1E26-5E9C-4F85-A5A5-EA8FD21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0255">
            <a:off x="1174741" y="3936206"/>
            <a:ext cx="115571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1083E-B51D-4AC6-B243-131CDAD3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9260">
            <a:off x="2029999" y="2995613"/>
            <a:ext cx="131210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4BB9D-0BC6-483F-86E3-38CE1D4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67844">
            <a:off x="2061272" y="3757613"/>
            <a:ext cx="140195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B4F29-4F0E-4BBF-A49F-9107C90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0155">
            <a:off x="2247449" y="4257675"/>
            <a:ext cx="12582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F5964-157E-415F-84E5-5A26D6C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41241">
            <a:off x="3249345" y="3459956"/>
            <a:ext cx="119751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56859-5C29-431B-B569-7B78527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6721">
            <a:off x="3403496" y="3960019"/>
            <a:ext cx="111780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B9EF5-3E46-4AF2-8373-6E9262D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61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307FF-38E9-4819-9325-A1875DA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3C9B1-B8B7-47B7-9D59-DCE2B0E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71B7B-8782-4D9E-ADCD-2B02AF5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7CD6F-EF26-4D94-B065-60D5D1A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D1CF5-E1F0-4D3D-AF15-699FAD8D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61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48E41-10DB-4F6B-88B6-21CDBC9E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5380">
            <a:off x="7452089" y="2733675"/>
            <a:ext cx="237417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48F35-A56A-4323-B7C8-5434C2F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31434">
            <a:off x="7260454" y="3305175"/>
            <a:ext cx="12334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DCA8F-9FD5-4AEA-930F-F8EEF6EF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06097">
            <a:off x="9584804" y="2995613"/>
            <a:ext cx="85194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6E93E-631A-46DB-B8F3-D909406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8277412" y="3567113"/>
            <a:ext cx="194272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443DC-18CC-415C-9EA3-48E89DF3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3351">
            <a:off x="7557042" y="4067175"/>
            <a:ext cx="86886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9F2D3-5860-48B3-B260-068171FE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52942">
            <a:off x="9301497" y="3852863"/>
            <a:ext cx="115185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A821E-1871-4C0F-98B6-B75A2FD1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7679">
            <a:off x="7686371" y="4352925"/>
            <a:ext cx="186750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A3DB9-7284-4654-A3BB-5694D15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666E5-4060-4A81-B8CF-37AE67B1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62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FD8EB-4061-4820-B58A-F56FF2B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30874-7511-42EB-A177-139CAD89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4D1EC-05B2-42DF-8044-DD221EC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B53DC-56C3-45E8-86DF-4B11883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89C19-E8FA-45F0-AD72-B1A83BEB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PRIMITIVE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BE7E8-C95E-4D19-80BB-9AD78F2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2F4EE"/>
                </a:solidFill>
              </a:defRPr>
            </a:pPr>
            <a:r>
              <a:rPr sz="1800" b="0" i="0">
                <a:solidFill>
                  <a:srgbClr val="F2F4EE"/>
                </a:solidFill>
              </a:rPr>
              <a:t>id  ·  state  ·  links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CDAEC-FE28-4062-B7FD-1DBC53FE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95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EA8FF"/>
                </a:solidFill>
              </a:defRPr>
            </a:pPr>
            <a:r>
              <a:rPr sz="900" b="1" i="0">
                <a:solidFill>
                  <a:srgbClr val="BEA8FF"/>
                </a:solidFill>
              </a:rPr>
              <a:t>PROJECTION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62E1D-4123-429E-AE96-D8AC77C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2F4EE"/>
                </a:solidFill>
              </a:defRPr>
            </a:pPr>
            <a:r>
              <a:rPr sz="1800" b="0" i="0">
                <a:solidFill>
                  <a:srgbClr val="F2F4EE"/>
                </a:solidFill>
              </a:rPr>
              <a:t>screen x  ·  screen 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D50851-6A3C-4DBE-8E01-FA6E758C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FFCE8C"/>
                </a:solidFill>
              </a:defRPr>
            </a:pPr>
            <a:r>
              <a:rPr sz="1650" b="0" i="1">
                <a:solidFill>
                  <a:srgbClr val="FFCE8C"/>
                </a:solidFill>
              </a:rPr>
              <a:t>Invariant result: graph distance and connectivity do not change.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04C4E-5998-4E65-B293-1AD116D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19EFBE-EC2E-4AC3-97EA-3CBC8DF4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DCF303-FD3B-46BB-9BF3-E436A77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1487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298336-CA7A-453D-903E-3A2B91A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4DACE-F465-410A-8D48-EB963A8D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GEOMETROGENESIS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75FDF-F61F-4C11-B6E4-7CC443DD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Collective order creates a new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1A3F9-21BF-42AC-B850-598B85BC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367088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5EB04-5DDD-4443-B637-BA426B3A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CE8C"/>
                </a:solidFill>
              </a:defRPr>
            </a:pPr>
            <a:r>
              <a:rPr sz="750" b="1" i="0">
                <a:solidFill>
                  <a:srgbClr val="FFCE8C"/>
                </a:solidFill>
              </a:rPr>
              <a:t>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56064-62F6-4989-9E18-E95BFE06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24712">
            <a:off x="887188" y="2690813"/>
            <a:ext cx="96406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C9BE-8D5D-499D-8F09-02DD86F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4530">
            <a:off x="671782" y="3662363"/>
            <a:ext cx="131295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E61DB-AF8F-4C73-88BB-3BAF34D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1381122" y="2933700"/>
            <a:ext cx="157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05277-79CB-450D-BBBF-590D4C6C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31319">
            <a:off x="1485775" y="3905250"/>
            <a:ext cx="12823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A1DAF-1AA4-491C-A3BB-2752914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590396">
            <a:off x="2355155" y="3019425"/>
            <a:ext cx="122281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69DA9-56EF-4E8B-8456-391640F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18863">
            <a:off x="2429517" y="4019550"/>
            <a:ext cx="119696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67DAB-966E-47B2-963A-DDE7B1D4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84157">
            <a:off x="3189398" y="2790825"/>
            <a:ext cx="11516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2AA6A-C7D8-4956-B293-9EF8E4D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177">
            <a:off x="3378033" y="4333875"/>
            <a:ext cx="134780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22917-1FE0-49FA-AD36-FC89C0ED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8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B509A-4EED-4611-AFD9-99F881D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332E0-8894-41EC-B31E-2D5C5F6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EE5F1-9A13-4996-A773-18599C8E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E2DE3-344D-42FD-B3BA-2B80100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593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EE4CA-4981-4C9C-BFCB-B56B1E72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465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73367-D389-4DBB-AEF5-42DE0EC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573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903E1-681D-47B6-80D1-0885FA6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105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6E373-F0B2-4E44-AE6B-C6A9346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8697">
            <a:off x="7362408" y="3057525"/>
            <a:ext cx="1227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DB8D6-9D5C-41CD-AEBB-07CE6D1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8697">
            <a:off x="7362408" y="3971925"/>
            <a:ext cx="1227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E6B4E-2BD5-451C-B2ED-BD1A8081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71410" y="3514725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7FEC6-1BCA-4D11-8E46-4C2C014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5251">
            <a:off x="8194461" y="3057525"/>
            <a:ext cx="12837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0423E-CA04-415B-82B5-A04A6B3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5251">
            <a:off x="8194461" y="3971925"/>
            <a:ext cx="12837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EBFAE-12D9-4FF5-8FD8-266E75C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810" y="2600325"/>
            <a:ext cx="18021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5B3F0-75EE-4774-9334-07882B7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810" y="4429125"/>
            <a:ext cx="18021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2574E-7C23-436D-8998-BCB7577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5251">
            <a:off x="9095526" y="3057525"/>
            <a:ext cx="12837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78A8E-165C-493B-8DE8-F40E009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5251">
            <a:off x="9095526" y="3971925"/>
            <a:ext cx="12837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817AF-A897-444F-A7C5-91C71CB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73540" y="3514725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4358E-351E-4A8E-9D24-3EEF599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8697">
            <a:off x="9983688" y="3057525"/>
            <a:ext cx="1227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D5E768-CF8F-480A-837F-3756289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8697">
            <a:off x="9983688" y="3971925"/>
            <a:ext cx="1227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D2A79E-B850-49E6-9C4F-B79344B5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8DAC0-53F0-47BF-A0BF-EBCC9BB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25CC3-572E-4A88-979C-3589048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A8E4A-5BFD-4408-A65A-D191225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70281-DA16-4B34-9299-B2DF455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79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65203-C054-44BA-BFB7-6A9FC8E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79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A33FCD-9235-426A-98C0-5E0CA61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94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5BF0B2-8082-4126-8DD9-3F678EB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BA19E"/>
                </a:solidFill>
              </a:defRPr>
            </a:pPr>
            <a:r>
              <a:rPr sz="900" b="1" i="0">
                <a:solidFill>
                  <a:srgbClr val="9BA19E"/>
                </a:solidFill>
              </a:rPr>
              <a:t>PREGEO­METRIC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FEC685-8950-4CE9-9CF5-809B6A1F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2F4EE"/>
                </a:solidFill>
              </a:defRPr>
            </a:pPr>
            <a:r>
              <a:rPr sz="1500" b="0" i="0">
                <a:solidFill>
                  <a:srgbClr val="F2F4EE"/>
                </a:solidFill>
              </a:rPr>
              <a:t>Relations fluctuate without a stable continuum.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3EA01A-BE1C-47A3-83B7-1E548DD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EA8FF"/>
                </a:solidFill>
              </a:defRPr>
            </a:pPr>
            <a:r>
              <a:rPr sz="900" b="1" i="0">
                <a:solidFill>
                  <a:srgbClr val="BEA8FF"/>
                </a:solidFill>
              </a:rPr>
              <a:t>GEOMETRIC PHASE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258A4B-0B25-445C-AAF8-5040494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2F4EE"/>
                </a:solidFill>
              </a:defRPr>
            </a:pPr>
            <a:r>
              <a:rPr sz="1500" b="0" i="0">
                <a:solidFill>
                  <a:srgbClr val="F2F4EE"/>
                </a:solidFill>
              </a:rPr>
              <a:t>Coherent collective variables admit geometry like meaning.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7B23D8-E14E-4228-B12A-C661F02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427DB1-6B30-4883-B019-B1F760A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D3B03D-E138-4BBC-978F-460CA6F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565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EBDA9-999F-49E2-B891-EB24F33B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E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C222C-DC93-40C7-B7B7-D8A38C24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7E5D"/>
                </a:solidFill>
              </a:defRPr>
            </a:pPr>
            <a:r>
              <a:rPr sz="900" b="1" i="0">
                <a:solidFill>
                  <a:srgbClr val="247E5D"/>
                </a:solidFill>
              </a:rPr>
              <a:t>DERIVED OBSERVABLES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4ADB0-F93E-4847-A8C2-33F6B6DB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41714"/>
                </a:solidFill>
              </a:defRPr>
            </a:pPr>
            <a:r>
              <a:rPr sz="3600" b="0" i="0">
                <a:solidFill>
                  <a:srgbClr val="141714"/>
                </a:solidFill>
              </a:rPr>
              <a:t>Geometry can be measured after the 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D9130-F9F6-41AC-82CC-6B44B1A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76500" y="3690938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6746C-3F71-464B-99ED-6161E82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3690938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38F0B-2767-4587-9369-250BC13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7E5D"/>
                </a:solidFill>
              </a:defRPr>
            </a:pPr>
            <a:r>
              <a:rPr sz="900" b="1" i="0">
                <a:solidFill>
                  <a:srgbClr val="247E5D"/>
                </a:solidFill>
              </a:rPr>
              <a:t>DISTANCE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7CFB2-CB2D-4F00-A738-CBC30F8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41714"/>
                </a:solidFill>
              </a:defRPr>
            </a:pPr>
            <a:r>
              <a:rPr sz="2250" b="0" i="0">
                <a:solidFill>
                  <a:srgbClr val="141714"/>
                </a:solidFill>
              </a:rPr>
              <a:t>How many relations separate two events?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BBB96-4EE3-45F3-A295-7FD9CD2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5B"/>
                </a:solidFill>
              </a:defRPr>
            </a:pPr>
            <a:r>
              <a:rPr sz="1425" b="0" i="0">
                <a:solidFill>
                  <a:srgbClr val="52605B"/>
                </a:solidFill>
              </a:rPr>
              <a:t>Airports become one flight apart when a direct route opens.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EACE0-1F5C-4211-ADED-B613C5C8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7E5D"/>
                </a:solidFill>
              </a:defRPr>
            </a:pPr>
            <a:r>
              <a:rPr sz="1200" b="1" i="0">
                <a:solidFill>
                  <a:srgbClr val="247E5D"/>
                </a:solidFill>
              </a:rPr>
              <a:t>d(u,v) = minimum path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E4BE7-52A4-4C14-B883-6097001C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0499E"/>
                </a:solidFill>
              </a:defRPr>
            </a:pPr>
            <a:r>
              <a:rPr sz="900" b="1" i="0">
                <a:solidFill>
                  <a:srgbClr val="60499E"/>
                </a:solidFill>
              </a:rPr>
              <a:t>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C57C1-328B-4D26-880A-DA40275D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41714"/>
                </a:solidFill>
              </a:defRPr>
            </a:pPr>
            <a:r>
              <a:rPr sz="2250" b="0" i="0">
                <a:solidFill>
                  <a:srgbClr val="141714"/>
                </a:solidFill>
              </a:rPr>
              <a:t>How does information spread through the structure?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C9F96-D18F-49AF-94D5-458E324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5B"/>
                </a:solidFill>
              </a:defRPr>
            </a:pPr>
            <a:r>
              <a:rPr sz="1425" b="0" i="0">
                <a:solidFill>
                  <a:srgbClr val="52605B"/>
                </a:solidFill>
              </a:rPr>
              <a:t>An ant infers thread, sheet, or room from how it can wander.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B7500-EBF6-4AAC-B4B3-86C27AFD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0499E"/>
                </a:solidFill>
              </a:defRPr>
            </a:pPr>
            <a:r>
              <a:rPr sz="1200" b="1" i="0">
                <a:solidFill>
                  <a:srgbClr val="60499E"/>
                </a:solidFill>
              </a:rPr>
              <a:t>dₛ = return probability slope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83E6D-C1D4-4F3D-8F91-F649C9F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5E26"/>
                </a:solidFill>
              </a:defRPr>
            </a:pPr>
            <a:r>
              <a:rPr sz="900" b="1" i="0">
                <a:solidFill>
                  <a:srgbClr val="A65E26"/>
                </a:solidFill>
              </a:rPr>
              <a:t>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03F1A-490A-4603-9645-B15F48E0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41714"/>
                </a:solidFill>
              </a:defRPr>
            </a:pPr>
            <a:r>
              <a:rPr sz="2250" b="0" i="0">
                <a:solidFill>
                  <a:srgbClr val="141714"/>
                </a:solidFill>
              </a:rPr>
              <a:t>Can one change measure another change?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C009B-244E-4B43-85F9-B2BD385A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5B"/>
                </a:solidFill>
              </a:defRPr>
            </a:pPr>
            <a:r>
              <a:rPr sz="1425" b="0" i="0">
                <a:solidFill>
                  <a:srgbClr val="52605B"/>
                </a:solidFill>
              </a:rPr>
              <a:t>A dripping vessel can measure a growing plant without a wall clock.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F9DBE-B210-4230-893A-A62EC57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65E26"/>
                </a:solidFill>
              </a:defRPr>
            </a:pPr>
            <a:r>
              <a:rPr sz="1200" b="1" i="0">
                <a:solidFill>
                  <a:srgbClr val="A65E26"/>
                </a:solidFill>
              </a:rPr>
              <a:t>Observable V as a function of 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79E6D-F59A-4AD7-BA0C-BF0C7EA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0CA7F-7D61-42B5-B997-8F333106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0E6D3-0E61-4F75-BA56-B19F1DC2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1266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732C7-3879-44BD-81A2-A4C538BA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B44A-F47C-4AE4-BCE4-E36F61A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EVIDENCE LADDER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18695-FD5A-43B5-AB5A-140437A3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Every leap must be labeled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E3922-4FFB-4CCD-92CB-3B7F3FA6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43188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9DE52-A4BB-4C11-B933-08F44ED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ESTABLISHED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DF85D-68B4-423C-A4F9-5A67EF1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2F4EE"/>
                </a:solidFill>
              </a:defRPr>
            </a:pPr>
            <a:r>
              <a:rPr sz="2100" b="0" i="0">
                <a:solidFill>
                  <a:srgbClr val="F2F4EE"/>
                </a:solidFill>
              </a:rPr>
              <a:t>General relativity makes geometry dynamical.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D7C74-1B37-437F-9015-88589E1F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643313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B9DE2-0430-4EA6-8285-E21F6F4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EA8FF"/>
                </a:solidFill>
              </a:defRPr>
            </a:pPr>
            <a:r>
              <a:rPr sz="900" b="1" i="0">
                <a:solidFill>
                  <a:srgbClr val="BEA8FF"/>
                </a:solidFill>
              </a:rPr>
              <a:t>DERIVED IN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41D7-D71A-415B-A574-FF8585F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2F4EE"/>
                </a:solidFill>
              </a:defRPr>
            </a:pPr>
            <a:r>
              <a:rPr sz="2100" b="0" i="0">
                <a:solidFill>
                  <a:srgbClr val="F2F4EE"/>
                </a:solidFill>
              </a:rPr>
              <a:t>GFT condensates can yield effective cosmological dynamics.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9D816-F0D7-4258-8125-D02D81A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643438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991A7-F5E0-43E4-BA4D-5AA3403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CE8C"/>
                </a:solidFill>
              </a:defRPr>
            </a:pPr>
            <a:r>
              <a:rPr sz="900" b="1" i="0">
                <a:solidFill>
                  <a:srgbClr val="FFCE8C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0EE92-05AF-4139-AD7D-A80A62B1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2F4EE"/>
                </a:solidFill>
              </a:defRPr>
            </a:pPr>
            <a:r>
              <a:rPr sz="2100" b="0" i="0">
                <a:solidFill>
                  <a:srgbClr val="F2F4EE"/>
                </a:solidFill>
              </a:rPr>
              <a:t>A phase transition may represent geometrogenesis.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B77FE-270D-46A0-98BE-DDE09BE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643563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45DAD-07B5-456C-8D48-C44020F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OPEN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7D00E-5A8C-4B78-8040-5819DDC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2F4EE"/>
                </a:solidFill>
              </a:defRPr>
            </a:pPr>
            <a:r>
              <a:rPr sz="2100" b="0" i="0">
                <a:solidFill>
                  <a:srgbClr val="F2F4EE"/>
                </a:solidFill>
              </a:rPr>
              <a:t>Did our universe take this path, and how would we know?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176CD-3926-4498-BFE7-CC9B1C6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CE8C"/>
                </a:solidFill>
              </a:defRPr>
            </a:pPr>
            <a:r>
              <a:rPr sz="1350" b="1" i="0">
                <a:solidFill>
                  <a:srgbClr val="FFCE8C"/>
                </a:solidFill>
              </a:rPr>
              <a:t>The project demonstrates possibility. Nature still owes us a distinctive measurement.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16AEE-68C9-45A4-B3EE-8816D8F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F433E-38D6-42C2-8591-BA5DA815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197EB-32CF-45C8-8106-DE3B1AC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5257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1B46A-3AED-450C-8E0B-8D561A78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29751-B44A-4A58-9F0E-A96DE6C2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RESEARCH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267DF-E910-4772-BD3A-3732DFB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RuVector turns the thesis into a testable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7111-591C-429A-B008-E8FCA49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73367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0B010-3E31-44BD-B330-9DEBF3B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42912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4F30C-8112-467B-9766-20206F1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49331">
            <a:off x="7211215" y="3086100"/>
            <a:ext cx="17224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300EA-A3B7-4F62-B257-876037AC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44291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7D8B-AFD8-4158-AAF1-16B8EBD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96200" y="40767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E6BA1-C82C-4A1E-9CE6-F1FD4A06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372427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14635-C2F4-4D0F-A07F-6F3096B9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90675" y="35814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49E81-E5A6-4875-8758-278176D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518"/>
          </a:solidFill>
          <a:ln xmlns:a="http://schemas.openxmlformats.org/drawingml/2006/main" w="9525">
            <a:solidFill>
              <a:srgbClr val="2931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2B8C6-06AB-49BA-BFDE-8CFD7324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479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6FFD7"/>
                </a:solidFill>
              </a:defRPr>
            </a:pPr>
            <a:r>
              <a:rPr sz="1500" b="1" i="0">
                <a:solidFill>
                  <a:srgbClr val="86FFD7"/>
                </a:solidFill>
              </a:rPr>
              <a:t>RUVector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17E5A-BDAB-408E-B6C0-A13BBED5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BA19E"/>
                </a:solidFill>
              </a:defRPr>
            </a:pPr>
            <a:r>
              <a:rPr sz="1050" b="0" i="0">
                <a:solidFill>
                  <a:srgbClr val="9BA19E"/>
                </a:solidFill>
              </a:rPr>
              <a:t>Relational graph and invariants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A273F-B634-465D-829A-1F9DAD93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518"/>
          </a:solidFill>
          <a:ln xmlns:a="http://schemas.openxmlformats.org/drawingml/2006/main" w="9525">
            <a:solidFill>
              <a:srgbClr val="2931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B0E83-43A6-4DA3-AF8D-5521952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EA8FF"/>
                </a:solidFill>
              </a:defRPr>
            </a:pPr>
            <a:r>
              <a:rPr sz="1500" b="1" i="0">
                <a:solidFill>
                  <a:srgbClr val="BEA8FF"/>
                </a:solidFill>
              </a:rPr>
              <a:t>Emergent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01422-B445-4164-86FB-9544FA0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BA19E"/>
                </a:solidFill>
              </a:defRPr>
            </a:pPr>
            <a:r>
              <a:rPr sz="1050" b="0" i="0">
                <a:solidFill>
                  <a:srgbClr val="9BA19E"/>
                </a:solidFill>
              </a:rPr>
              <a:t>Relational clock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74622-F0DD-4A90-943D-8F8A583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0505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518"/>
          </a:solidFill>
          <a:ln xmlns:a="http://schemas.openxmlformats.org/drawingml/2006/main" w="9525">
            <a:solidFill>
              <a:srgbClr val="2931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C76DB-77E2-49EB-AA14-C5EE3E6F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47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E8C"/>
                </a:solidFill>
              </a:defRPr>
            </a:pPr>
            <a:r>
              <a:rPr sz="1500" b="1" i="0">
                <a:solidFill>
                  <a:srgbClr val="FFCE8C"/>
                </a:solidFill>
              </a:rPr>
              <a:t>MidStream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487D9-036A-4F7E-861C-5480F58D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908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BA19E"/>
                </a:solidFill>
              </a:defRPr>
            </a:pPr>
            <a:r>
              <a:rPr sz="1050" b="0" i="0">
                <a:solidFill>
                  <a:srgbClr val="9BA19E"/>
                </a:solidFill>
              </a:rPr>
              <a:t>Deterministic event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04591-ECA1-43F3-A890-FF05B65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518"/>
          </a:solidFill>
          <a:ln xmlns:a="http://schemas.openxmlformats.org/drawingml/2006/main" w="9525">
            <a:solidFill>
              <a:srgbClr val="2931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74078-C301-4D01-BD96-B3B2B23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433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917F"/>
                </a:solidFill>
              </a:defRPr>
            </a:pPr>
            <a:r>
              <a:rPr sz="1500" b="1" i="0">
                <a:solidFill>
                  <a:srgbClr val="FF917F"/>
                </a:solidFill>
              </a:rPr>
              <a:t>MetaHarness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B69EF-C31F-47CA-BA30-3E662736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86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BA19E"/>
                </a:solidFill>
              </a:defRPr>
            </a:pPr>
            <a:r>
              <a:rPr sz="1050" b="0" i="0">
                <a:solidFill>
                  <a:srgbClr val="9BA19E"/>
                </a:solidFill>
              </a:rPr>
              <a:t>Seeded ensembles and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B82AB-B7B7-4666-A28E-B35F7E7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476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F1518"/>
          </a:solidFill>
          <a:ln xmlns:a="http://schemas.openxmlformats.org/drawingml/2006/main" w="9525">
            <a:solidFill>
              <a:srgbClr val="2931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1A9C5-769F-4A2F-9A13-297DBE3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861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4EE"/>
                </a:solidFill>
              </a:defRPr>
            </a:pPr>
            <a:r>
              <a:rPr sz="1500" b="1" i="0">
                <a:solidFill>
                  <a:srgbClr val="F2F4EE"/>
                </a:solidFill>
              </a:rPr>
              <a:t>RVF receipt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25E4B-023B-49A5-BA16-530BA7FA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BA19E"/>
                </a:solidFill>
              </a:defRPr>
            </a:pPr>
            <a:r>
              <a:rPr sz="1050" b="0" i="0">
                <a:solidFill>
                  <a:srgbClr val="9BA19E"/>
                </a:solidFill>
              </a:rPr>
              <a:t>State · parameters · lineage · witness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8A9F6-612B-4B9B-9B2E-F4098CC9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6FFD7"/>
                </a:solidFill>
              </a:defRPr>
            </a:pPr>
            <a:r>
              <a:rPr sz="825" b="1" i="0">
                <a:solidFill>
                  <a:srgbClr val="86FFD7"/>
                </a:solidFill>
              </a:rPr>
              <a:t>Production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170E3-1805-4460-8AE8-DBFE021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45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2F4EE"/>
                </a:solidFill>
              </a:defRPr>
            </a:pPr>
            <a:r>
              <a:rPr sz="1800" b="0" i="0">
                <a:solidFill>
                  <a:srgbClr val="F2F4EE"/>
                </a:solidFill>
              </a:rPr>
              <a:t>Every visible result must trace back to primitive state, equations, parameters, and an evidence label.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AE2E0-987F-4789-97C3-8AB6F78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A4BA3-E843-4916-95DC-C76A2209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537FD-2F4B-4D53-8288-E81AA82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5685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BA2CE-BFF5-447C-87F5-14F5789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828B0-D34B-4DBA-91E2-6B115CF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FALSIFIABILITY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5CC3-E6FE-43DE-A61B-2E73EF82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2F4EE"/>
                </a:solidFill>
              </a:defRPr>
            </a:pPr>
            <a:r>
              <a:rPr sz="3600" b="0" i="0">
                <a:solidFill>
                  <a:srgbClr val="F2F4EE"/>
                </a:solidFill>
              </a:rPr>
              <a:t>What would make this physics?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729C5-1485-4824-A4E4-BB9BCB64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51D3F-3DA8-4FBD-B598-5DDE59FA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43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2F4EE"/>
                </a:solidFill>
              </a:defRPr>
            </a:pPr>
            <a:r>
              <a:rPr sz="2025" b="0" i="0">
                <a:solidFill>
                  <a:srgbClr val="F2F4EE"/>
                </a:solidFill>
              </a:rPr>
              <a:t>Controlled 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F5C99-E2B0-4412-90F3-2029B13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BA19E"/>
                </a:solidFill>
              </a:defRPr>
            </a:pPr>
            <a:r>
              <a:rPr sz="1350" b="0" i="0">
                <a:solidFill>
                  <a:srgbClr val="9BA19E"/>
                </a:solidFill>
              </a:rPr>
              <a:t>Show that a stable continuum phase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6A348-0529-44E4-9159-889FEF8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05088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02D12-869E-45A6-A1C9-CE60A48C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3365-C34F-4A46-8375-B2921124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95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2F4EE"/>
                </a:solidFill>
              </a:defRPr>
            </a:pPr>
            <a:r>
              <a:rPr sz="2025" b="0" i="0">
                <a:solidFill>
                  <a:srgbClr val="F2F4EE"/>
                </a:solidFill>
              </a:rPr>
              <a:t>Recover known physics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ADDB4-BD74-4DF1-A8E8-81723B6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BA19E"/>
                </a:solidFill>
              </a:defRPr>
            </a:pPr>
            <a:r>
              <a:rPr sz="1350" b="0" i="0">
                <a:solidFill>
                  <a:srgbClr val="9BA19E"/>
                </a:solidFill>
              </a:rPr>
              <a:t>Match general relativity and quantum field behavior in tested regimes.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F6089-AFEB-4B9C-87FF-8548998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557588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15F9D-C08B-4AF2-9D55-C2236324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D0C8-F71C-4A48-A58A-8BD5FBC7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48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2F4EE"/>
                </a:solidFill>
              </a:defRPr>
            </a:pPr>
            <a:r>
              <a:rPr sz="2025" b="0" i="0">
                <a:solidFill>
                  <a:srgbClr val="F2F4EE"/>
                </a:solidFill>
              </a:rPr>
              <a:t>Distinct 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7AF05-0839-4985-9B54-BCF806B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BA19E"/>
                </a:solidFill>
              </a:defRPr>
            </a:pPr>
            <a:r>
              <a:rPr sz="1350" b="0" i="0">
                <a:solidFill>
                  <a:srgbClr val="9BA19E"/>
                </a:solidFill>
              </a:rPr>
              <a:t>Identify an observable that separates GFT from rival programs.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12C6B-27A2-4563-B01E-C54ABA5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510088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5F7AA-95CE-49E7-AEFD-92354DE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917F"/>
                </a:solidFill>
              </a:defRPr>
            </a:pPr>
            <a:r>
              <a:rPr sz="900" b="1" i="0">
                <a:solidFill>
                  <a:srgbClr val="FF917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DA286-C482-4C0F-9DFF-0768B3C3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00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2F4EE"/>
                </a:solidFill>
              </a:defRPr>
            </a:pPr>
            <a:r>
              <a:rPr sz="2025" b="0" i="0">
                <a:solidFill>
                  <a:srgbClr val="F2F4EE"/>
                </a:solidFill>
              </a:rPr>
              <a:t>Independent replication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760B5-D757-4579-9CC8-EA7A875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BA19E"/>
                </a:solidFill>
              </a:defRPr>
            </a:pPr>
            <a:r>
              <a:rPr sz="1350" b="0" i="0">
                <a:solidFill>
                  <a:srgbClr val="9BA19E"/>
                </a:solidFill>
              </a:rPr>
              <a:t>Reproduce equations, parameters, and outputs from signed receipts.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C09EC-ACD1-46BF-BCC7-4F532249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462588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21C52-418B-4E95-B6ED-5F908C1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100F"/>
          </a:solidFill>
          <a:ln xmlns:a="http://schemas.openxmlformats.org/drawingml/2006/main" w="9525">
            <a:solidFill>
              <a:srgbClr val="5935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5BA49-E879-4254-8F5D-E4B6C62E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917F"/>
                </a:solidFill>
              </a:defRPr>
            </a:pPr>
            <a:r>
              <a:rPr sz="1200" b="1" i="0">
                <a:solidFill>
                  <a:srgbClr val="FF917F"/>
                </a:solidFill>
              </a:rPr>
              <a:t>Biggest failure mode: mistaking a computational analogy for evidence about nature.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1FBD1-F0ED-4A60-B7E2-B68D1145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481763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FF392-2897-440F-9328-B38DA345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BEFORE SPACE, BEFORE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25F19-059B-4F09-BB69-6BD2B58E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9BA19E"/>
                </a:solidFill>
              </a:defRPr>
            </a:pPr>
            <a:r>
              <a:rPr sz="675" b="1" i="0">
                <a:solidFill>
                  <a:srgbClr val="9BA19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1979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6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844E3-3AC2-4C13-88CD-E516C42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74872">
            <a:off x="5809334" y="2483168"/>
            <a:ext cx="17125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E955B-8296-4055-A334-39AD3EC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97648">
            <a:off x="5979048" y="3953351"/>
            <a:ext cx="16207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269A6-524D-49DC-96B8-CAB32DB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08524">
            <a:off x="6724924" y="2296478"/>
            <a:ext cx="16644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EF486-9356-4B4A-9076-1DEE7B8F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61639">
            <a:off x="6709239" y="3766661"/>
            <a:ext cx="194344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15566-4E4D-4DB3-B826-D1771B3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3397">
            <a:off x="7865585" y="2366486"/>
            <a:ext cx="136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E8298-1BF1-4C52-A215-0AAE148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05400">
            <a:off x="7698110" y="3696652"/>
            <a:ext cx="18973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FEA78-8CB8-4D14-B9B7-ABA9C3BD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48345">
            <a:off x="8811122" y="2273141"/>
            <a:ext cx="14048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7C7E-8C68-4861-8ECC-4E64C6F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14463">
            <a:off x="9132176" y="4256723"/>
            <a:ext cx="16047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3D9A-AF06-4B85-BA13-2CDF628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26200">
            <a:off x="9651922" y="3369945"/>
            <a:ext cx="14568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80136-64A6-41F7-BB6E-D95998BF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3E3EE-5282-49BC-8F50-F295705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390" y="164211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BABBA-E9B2-4C83-B32A-718D8122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824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98ED2-ABB8-4098-B8C2-3E53553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580" y="285559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8AD22-A394-4DBD-802B-4E649F8F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590" y="178212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35172-1107-4A13-BF18-E6EB5EC0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710" y="444246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834C5-2B7A-4FF6-B4EF-E00107AF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89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FD7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8C88F-F051-4F4F-B2E4-7289AAE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40" y="397573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EE"/>
          </a:solidFill>
          <a:ln xmlns:a="http://schemas.openxmlformats.org/drawingml/2006/main" w="9525">
            <a:solidFill>
              <a:srgbClr val="0506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65FE8-FDA8-4D18-A14F-11B4993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4BBD5-9D48-4CB1-80BC-CD98002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FFD7"/>
                </a:solidFill>
              </a:defRPr>
            </a:pPr>
            <a:r>
              <a:rPr sz="900" b="1" i="0">
                <a:solidFill>
                  <a:srgbClr val="86FFD7"/>
                </a:solidFill>
              </a:rPr>
              <a:t>THE HONEST CONCLUSION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96CD7-E737-4741-92E0-2D623CC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0" i="0">
                <a:solidFill>
                  <a:srgbClr val="F2F4EE"/>
                </a:solidFill>
              </a:defRPr>
            </a:pPr>
            <a:r>
              <a:rPr sz="4650" b="0" i="0">
                <a:solidFill>
                  <a:srgbClr val="F2F4EE"/>
                </a:solidFill>
              </a:rPr>
              <a:t>We proved a</a:t>
            </a:r>
          </a:p>
          <a:p xmlns:a="http://schemas.openxmlformats.org/drawingml/2006/main">
            <a:pPr algn="l">
              <a:defRPr sz="4650" b="0" i="0">
                <a:solidFill>
                  <a:srgbClr val="F2F4EE"/>
                </a:solidFill>
              </a:defRPr>
            </a:pPr>
            <a:r>
              <a:rPr sz="4650" b="0" i="0">
                <a:solidFill>
                  <a:srgbClr val="F2F4EE"/>
                </a:solidFill>
              </a:rPr>
              <a:t>possibility.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7E979-B924-4496-A7C8-D99CC408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0" i="1">
                <a:solidFill>
                  <a:srgbClr val="86FFD7"/>
                </a:solidFill>
              </a:defRPr>
            </a:pPr>
            <a:r>
              <a:rPr sz="4650" b="0" i="1">
                <a:solidFill>
                  <a:srgbClr val="86FFD7"/>
                </a:solidFill>
              </a:rPr>
              <a:t>Not a fact.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C1321-DE7B-4DE2-BAFE-FF687A3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9BA19E"/>
                </a:solidFill>
              </a:defRPr>
            </a:pPr>
            <a:r>
              <a:rPr sz="1725" b="0" i="0">
                <a:solidFill>
                  <a:srgbClr val="9BA19E"/>
                </a:solidFill>
              </a:rPr>
              <a:t>A coordinate free system can produce geometry like observables. The next step is a prediction nature can test.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9143D-EE72-4CDD-B2A6-39B2AA20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767388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FFCD1-E69E-485C-9D36-FBCC2891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E8C"/>
                </a:solidFill>
              </a:defRPr>
            </a:pPr>
            <a:r>
              <a:rPr sz="1125" b="1" i="0">
                <a:solidFill>
                  <a:srgbClr val="FFCE8C"/>
                </a:solidFill>
              </a:rPr>
              <a:t>Explore: before-space-before-time.ruv.chatgpt.site</a:t>
            </a:r>
          </a:p>
        </p:txBody>
      </p:sp>
    </p:spTree>
    <p:extLst>
      <p:ext uri="{BB962C8B-B14F-4D97-AF65-F5344CB8AC3E}">
        <p14:creationId xmlns:p14="http://schemas.microsoft.com/office/powerpoint/2010/main" val="1672321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2026-08-22T01:04:31.5820000Z</dcterms:created>
  <dcterms:modified xsi:type="dcterms:W3CDTF">2026-08-22T01:04:31.5820000Z</dcterms:modified>
</coreProperties>
</file>